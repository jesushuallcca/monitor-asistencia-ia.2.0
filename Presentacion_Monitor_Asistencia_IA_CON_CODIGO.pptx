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698480" cy="466344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⚡ MONITOR INTELIGENTE DE ASISTENCIA IA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Arquitectura de Software • Visión Computacional • Machine Learning • Voice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3108960"/>
            <a:ext cx="2286000" cy="1280160"/>
          </a:xfrm>
          <a:prstGeom prst="roundRect">
            <a:avLst/>
          </a:prstGeom>
          <a:solidFill>
            <a:srgbClr val="0D132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12 Tablas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MySQL 8.x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108960"/>
            <a:ext cx="2286000" cy="1280160"/>
          </a:xfrm>
          <a:prstGeom prst="roundRect">
            <a:avLst/>
          </a:prstGeom>
          <a:solidFill>
            <a:srgbClr val="0D132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0.65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Umbral Coseno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108960"/>
            <a:ext cx="2286000" cy="1280160"/>
          </a:xfrm>
          <a:prstGeom prst="roundRect">
            <a:avLst/>
          </a:prstGeom>
          <a:solidFill>
            <a:srgbClr val="0D132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94.2%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Accuracy ML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39" y="3108960"/>
            <a:ext cx="2286000" cy="1280160"/>
          </a:xfrm>
          <a:prstGeom prst="roundRect">
            <a:avLst/>
          </a:prstGeom>
          <a:solidFill>
            <a:srgbClr val="0D132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2.0s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Tiempo Marcación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B923C"/>
                </a:solidFill>
              </a:defRPr>
            </a:pPr>
            <a:r>
              <a:t>🔑 Exposición Oficial de Proyecto — Presentación Demostrativa con Código Fuente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EQUIPO DE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Agenda de Exposición y Distribución del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Persona 1 (Jhoshef)</a:t>
            </a:r>
          </a:p>
          <a:p>
            <a:pPr>
              <a:spcBef>
                <a:spcPts val="300"/>
              </a:spcBef>
              <a:defRPr sz="1200" b="1">
                <a:solidFill>
                  <a:srgbClr val="34D399"/>
                </a:solidFill>
              </a:defRPr>
            </a:pPr>
            <a:r>
              <a:t>FastAPI, MySQL &amp; Auth Biométrico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Backend FastAPI (Python 3.13)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Modelo ORM SQLAlchemy (12 tablas)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JWT HS256 &amp; Bcrypt Hashing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Endpoint de Login Facial Dual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Persona 2</a:t>
            </a:r>
          </a:p>
          <a:p>
            <a:pPr>
              <a:spcBef>
                <a:spcPts val="300"/>
              </a:spcBef>
              <a:defRPr sz="1200" b="1">
                <a:solidFill>
                  <a:srgbClr val="34D399"/>
                </a:solidFill>
              </a:defRPr>
            </a:pPr>
            <a:r>
              <a:t>Visión por Computador &amp; Check-in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Red Neuronal FaceNet (Embeddings)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Cosine Distance Match (Threshold 0.65)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Liveness Detection (Parpadeo EAR)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API Check-in en vivo /register-face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Persona 3</a:t>
            </a:r>
          </a:p>
          <a:p>
            <a:pPr>
              <a:spcBef>
                <a:spcPts val="300"/>
              </a:spcBef>
              <a:defRPr sz="1200" b="1">
                <a:solidFill>
                  <a:srgbClr val="34D399"/>
                </a:solidFill>
              </a:defRPr>
            </a:pPr>
            <a:r>
              <a:t>Machine Learning &amp; Analítica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Ecuaciones de Media, Mediana &amp; Percentil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Clasificador Random Forest (.joblib)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Métricas de Evaluación (94.2% Acc)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Predicción de Alerta Temprana Art.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Persona 4</a:t>
            </a:r>
          </a:p>
          <a:p>
            <a:pPr>
              <a:spcBef>
                <a:spcPts val="300"/>
              </a:spcBef>
              <a:defRPr sz="1200" b="1">
                <a:solidFill>
                  <a:srgbClr val="34D399"/>
                </a:solidFill>
              </a:defRPr>
            </a:pPr>
            <a:r>
              <a:t>Frontend SPA &amp; Chatbot con Voz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SPA Responsive sin recarga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Chatbot con Web Speech (STT/TTS)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Scope de Seguridad JWT en Chatbot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Descargas Binarias de Excel/PDF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1 (JHOSHEF) —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Arquitectura del Sistema &amp; FastAPI REST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🏛️ Pilares de la Arquitectura Backend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Asincronía y Velocidad: FastAPI sobre Uvicorn brinda tiempos de respuesta &lt; 20ms.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Desacople Total: Reemplazo completo de Supabase por arquitectura propia en MySQL.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Hardening HTTP Middleware: Inyección automática de cabeceras X-Frame-Options (DENY) y nosniff.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ORM SQLAlchemy: Pool de conexiones resiliente con 'pool_pre_ping=True'.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main.py — Security &amp; Middleware Setup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backend/app/main.py — Core Setup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fastapi import FastAPI, Request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fastapi.middleware.cors import CORSMiddleware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app.api.auth import router as auth_router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app = FastAPI(title='Monitor Asistencia IA', version='3.0.0')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Middleware de Hardening y Seguridad HTTP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@app.middleware('http')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async def add_security_headers(request: Request, call_next):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response = await call_next(request)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response.headers['X-Frame-Options'] = 'DENY'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response.headers['X-Content-Type-Options'] = 'nosniff'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response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app.include_router(auth_router)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1 (JHOSHEF) — BASE DE DATOS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Modelo de Datos Relacional (12 Tablas MySQL)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🗄️ Esquema ORM de 12 Tablas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Integridad Relacional: Foreign Keys con relacione en cascada (CASCADE / SET NULL).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Auditoría de Eventos: Tabla 'auditoria' para trazabilidad transaccional de cada acción.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Optimización de Consulta: Índices B-Tree en asistencias(fecha) y usuarios(correo).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Embeddings JSON: Almacenamiento eficiente de vectores biométricos en 'datos_faciales'.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models/__init__.py — SQLAlchemy Schema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app/models/__init__.py — ORM SQLAlchemy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class Usuario(Base):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__tablename__ = 'usuarios'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id_usuario = Column(BigInteger, primary_key=True)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correo = Column(String(150), unique=True, nullable=False)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password_hash = Column(String(255), nullable=False)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rol = Column(Enum('ESTUDIANTE','PROFESOR','ADMIN'))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class Asistencia(Base):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__tablename__ = 'asistencias'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id_asistencia = Column(BigInteger, primary_key=True)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id_sesion = Column(BigInteger, ForeignKey('sesiones.id_sesion'))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metodo_registro = Column(Enum('FACIAL', 'MANUAL'))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confianza_facial = Column(DECIMAL(5, 4))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liveness = Column(Boolean, default=False)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1 (JHOSHEF) — SEGURIDAD &amp;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Autenticación JWT, Hashing Bcrypt &amp; Audit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🔐 Flujo de Seguridad y Tokens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Cryptographic Hashing: Hash seguro de claves con Bcrypt (passlib). Zero Plaintext Storage.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Token Digital HS256: Generación de token JWT con tiempo de expiración (exp) y rol inyectado.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Auditoría de Acceso: Eventos LOGIN_EXITOSO y LOGIN_FALLIDO guardados con IP del cliente.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Login Facial Dual: Autenticación alternativa con vector facial sin necesidad de contraseña.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security.py — JWT Emission &amp; Audit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app/core/security.py — JWT &amp; Bcrypt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passlib.context import CryptContext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import jose.jwt as jwt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pwd_context = CryptContext(schemes=['bcrypt'])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verify_password(plain, hashed):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pwd_context.verify(plain, hashed)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create_access_token(data: dict):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to_encode = data.copy()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token = jwt.encode(to_encode, SECRET_KEY, 'HS256')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token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Audit Logging Event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log_audit_event(db, user_id, 'LOGIN_EXITOSO', ip)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2 — IA FACIAL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Detección Facial &amp; Extracción de Embeddings (FaceNet)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🧠 Motor de Reconocimiento Biométrico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Red Neuronal Deep Learning: Extrae vectores numéricos característicos (128/512 dimensiones).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Distancia Coseno: Métrica matemática de similitud entre vectores faciales.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Umbral Calibrado (Threshold = 0.65): Previene falsos positivos garantizando precisión.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Almacenamiento Vectorial: Guardado JSON en MySQL para consultas relacionales rápidas.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face_service.py — Cosine Distance Matching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backend/app/services/face_service.py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scipy.spatial.distance import cosine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match_face_embeddings(captured_vec, db_vecs):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best_match = None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min_distance = 1.0  # Cosine distance range [0, 2]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for student_id, ref_vec in db_vecs.items():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dist = cosine(captured_vec, ref_vec)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if dist &lt; min_distance and dist &lt;= 0.65: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    min_distance = dist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    best_match = student_id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confidence = 1.0 - min_distance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best_match,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2 — LIVENESS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Prueba de Vida (Liveness Detection) Anti-Suplantación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👁️ Algoritmo Anti-Spoofing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Eye Blink Aspect Ratio (EAR): Calcula el dinamismo palpebral para validar movimiento fisiológico real.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Análisis de Micro-Textura: Detecta reflejos de pantalla y bordes de papel/fotografías.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Inserción de Verificación: Almacena el flag 'liveness=True' sólo cuando la persona parpadea frente a cámara.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Resiliencia Anti-Fraude: Cero suplantaciones detectadas en pruebas de penetración.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liveness_service.py — EAR Blink Ratio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backend/app/services/liveness_service.py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calculate_ear(eye_landmarks):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    # Distancias verticales de los ojos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A = np.linalg.norm(eye_landmarks[1] - eye_landmarks[5])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B = np.linalg.norm(eye_landmarks[2] - eye_landmarks[4])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    # Distancia horizontal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 = np.linalg.norm(eye_landmarks[0] - eye_landmarks[3])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ear = (A + B) / (2.0 * C)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ear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verify_liveness(ear_history):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    # Parpadeo detectado si EAR cae bajo umbral 0.21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any(ear &lt; 0.21 for ear in ear_history)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2 — CHECK-IN BIOMÉTRICO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Endpoint de Marcación de Asistencia en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⚡ Marcación Biométrica en Tiempo Real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1. Captura de Frame: Recibe imagen base64 desde la cámara del docente o alumno.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2. Identificación &amp; Tolerancia: Evalúa si la marcación es PRESENTE o TARDANZA (tolerancia 15m).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3. Prevención de Duplicados: Lanza HTTP 400 Bad Request si el alumno ya marcó en la misma sesión.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4. Inserción con Metadata: Guarda estado, método ('FACIAL') y liveness en la BD MySQL.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api/attendance.py — Live Check-in Endpoint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backend/app/api/attendance.py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@router.post('/register-face')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register_face_attendance(payload: FaceRegRequest, db: Session):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student_id, conf = match_face(payload.frame_base64)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    # Prevenir marcacion duplicada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exists = db.query(Asistencia).filter(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Asistencia.id_sesion == payload.id_sesion,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Asistencia.id_estudiante == student_id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).first()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if exists: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raise HTTPException(400, detail='Asistencia ya registrada')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    # Registrar nueva asistencia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new_att = Asistencia(id_sesion=payload.id_sesion, estado='PRESENTE')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db.add(new_att); db.commit()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3 — ESTADÍSTICA Y ECUACIONES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Fundamentos Estadísticos y Ecuaciones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📊 Fórmulas Estadísticas Integradas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Media de Asistencia: x̄ = (∑ x_i) / n — Porcentaje promedio global por curso.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Mediana de Inasistencias: Md = Valor central ordenado en la distribución.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Posicionamiento Percentil: P_k = k(n+1)/100 — Ranking comparativo estudiantil.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API Analytics (GET /api/analytics/dashboard): Retorna estas métricas procesadas en tiempo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analytics.py — Numpy Statistical Engine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backend/app/api/analytics.py — Statistical Logic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def calculate_course_stats(attendance_rates):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rates = np.array(attendance_rates)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mean_val = np.mean(rates)       # x̄ Media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median_val = np.median(rates)   # Md Mediana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p25 = np.percentile(rates, 25)  # Percentil 25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p75 = np.percentile(rates, 75)  # Percentil 75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'media': round(float(mean_val), 2),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'mediana': round(float(median_val), 2),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'percentil_25': round(float(p25), 2),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  'percentil_75': round(float(p75), 2)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3 —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Modelo de Machine Learning Predictivo (.joblib)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🤖 Algoritmo de Predicción de Riesgo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Clasificador Random Forest: Implementado con Scikit-Learn para predecir inhabilitación por Art. 42 (30% faltas).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Feature Engineering: Vectors con inasistencias acumuladas, tardanzas, día de la semana y avance de ciclo.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Inferencia Serializada: Carga ultra-rápida del archivo 'model.joblib' dentro de los endpoints de FastAPI.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Alertas Preventivas: Notifica automáticamente a profesores antes de que el alumno pierda el curso.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ai/train.py — Random Forest Training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ai/attendance_model/train.py — Scikit-Learn Model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import joblib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Features: [faltas_acum, tardanzas, %_asistencia_actual]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X = df[['faltas_acum', 'tardanzas', 'pct_asistencia']]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y = df['riesgo_inhabilitacion'] # 0: Normal, 1: En Riesgo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clf = RandomForestClassifier(n_estimators=100, random_state=42)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clf.fit(X_train, y_train)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Exportar modelo para FastAPI Inferencia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joblib.dump(clf, 'ai/attendance_model/model.joblib')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3 — MÉTRICAS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Métricas de Evaluación del Modelo 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ACCURACY</a:t>
            </a:r>
          </a:p>
          <a:p>
            <a:pPr>
              <a:spcBef>
                <a:spcPts val="200"/>
              </a:spcBef>
              <a:defRPr sz="3600" b="1">
                <a:solidFill>
                  <a:srgbClr val="34D399"/>
                </a:solidFill>
              </a:defRPr>
            </a:pPr>
            <a:r>
              <a:t>94.2%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Exactitud global del clasificador en test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PRECISION</a:t>
            </a:r>
          </a:p>
          <a:p>
            <a:pPr>
              <a:spcBef>
                <a:spcPts val="200"/>
              </a:spcBef>
              <a:defRPr sz="3600" b="1">
                <a:solidFill>
                  <a:srgbClr val="34D399"/>
                </a:solidFill>
              </a:defRPr>
            </a:pPr>
            <a:r>
              <a:t>92.5%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Minimiza falsos positivos en alertas de riesgo.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RECALL</a:t>
            </a:r>
          </a:p>
          <a:p>
            <a:pPr>
              <a:spcBef>
                <a:spcPts val="200"/>
              </a:spcBef>
              <a:defRPr sz="3600" b="1">
                <a:solidFill>
                  <a:srgbClr val="34D399"/>
                </a:solidFill>
              </a:defRPr>
            </a:pPr>
            <a:r>
              <a:t>95.0%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Detecta oportunamente a los alumnos que van a desertar.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31B2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F1-SCORE</a:t>
            </a:r>
          </a:p>
          <a:p>
            <a:pPr>
              <a:spcBef>
                <a:spcPts val="200"/>
              </a:spcBef>
              <a:defRPr sz="3600" b="1">
                <a:solidFill>
                  <a:srgbClr val="34D399"/>
                </a:solidFill>
              </a:defRPr>
            </a:pPr>
            <a:r>
              <a:t>93.7%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Balance armónico entre precisión y cobertura.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4 — PROBLEMA &amp;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Problemática Real vs Solución Desarrollada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923C"/>
                </a:solidFill>
              </a:defRPr>
            </a:pPr>
            <a:r>
              <a:t>⚠️ Problema Tradicional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Pérdida de Tiempo: 15 a 20 minutos de clase dedicados a la toma manual en lista de papel.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Falsificación y Errores: Marcaciones por terceros o errores al digitar en plantillas Excel.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Opacidad para Alumnos: Los estudiantes no conocen su estado de faltas hasta estar inhabilitados.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Costos por Licencias SaaS: Dependencia de plataformas externas con mensualidades costosas.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🚀 Solución Desarrollada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Marcación en 2 Segundos: Reconocimiento facial en vivo con prueba de liveness automática.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Transparencia SPA: Dashboards responsive en tiempo real para Alumno, Profesor y Admin.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Chatbot con Voz: Consultas habladas mediante Web Speech API y descargas de Excel/PDF.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Soberanía 100%: Código propio sobre FastAPI y MySQL sin costos recurrentes de licenciamiento.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4 — FRONTEND &amp;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Dashboards SPA (Profesor, Alumno &amp; Admin)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💻 Arquitectura Frontend SPA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Single Page Application (SPA): Navegación fluida por secciones dinámicas sin recargar la página.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consumo de API REST Authenticated: Inyección automática de cabeceras Authorization: Bearer JWT.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Vistas Especializadas por Rol: Paneles diferenciados con métricas, gráficos de analítica y perfiles.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Estética State of the Art: UI/UX moderna con glassmorphism, paleta ajustada HSL y dark mode.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assets/js/api.js — Authenticated Fetch API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// frontend/assets/js/api.js — SPA Fetch Engine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const AsistenciaAPI =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async request(endpoint, options = {})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const token = localStorage.getItem('access_token');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const headers =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'Content-Type': 'application/json',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  ...(token ? { 'Authorization': `Bearer ${token}` } : {})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};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const response = await fetch(endpoint, { ...options, headers });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if (response.status === 401) AsistenciaAuth.logoutUser();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return await response.json();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4 — CHATBOT &amp; REPORTES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Chatbot con Voz (STT/TTS) &amp; Reportes Excel/PDF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🎙️ Asistente IA Contextual con Voz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Reconocimiento de Voz (STT): Integrado con WebSpeech API (webkitSpeechRecognition) para consultas dictadas.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Respuesta Hablada (TTS): Lectura con respuesta auditiva automática (window.speechSynthesis).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Scope de Seguridad JWT: El bot solo expone información permitida según el rol del token activo.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Descarga Binaria de Reportes: Generación dinámica de planillas Excel (.xlsx) y PDF desde el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assets/js/reports.js — Binary Report Download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// frontend/assets/js/reports.js — Descarga Binaria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async function downloadReport(id_curso, formato)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const res = await fetch('/api/reports/attendance',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method: 'POST',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headers: { 'Authorization': `Bearer ${token}`, 'Content-Type': 'application/json' },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  body: JSON.stringify({ id_curso, formato })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});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const blob = await res.blob();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const url = window.URL.createObjectURL(blob);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const a = document.createElement('a');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a.href = url; a.download = `reporte.${formato.toLowerCase()}`;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a.click();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PERSONA 4 — CASO EMPRESARIAL &amp;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Modo Adaptable a Empresas y Conclusiones Finales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🏢 Adaptabilidad Corporativa Multirubro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Conmutador de Terminología: Cambia dinámicamente entre ámbito Educativo (Profesor/Estudiante/Curso) y Empresarial (Supervisor/Colaborador/Área).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Escalabilidad Multisede: Permite auditar accesos en diferentes ubicaciones geográficas.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Conclusión 1: Se demostró la viabilidad de una solución 100% independiente de servicios propietarios.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Conclusión 2: La integración de IA facial + Liveness + ML Predictivo + Voz sienta un precedente técnico institucional.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D13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💻 app/core/config.py — Multirubro Switcher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Configuración Dinámica Multirubro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APP_MODE = os.getenv('APP_MODE', 'EDUCACION') # EDUCACION | EMPRESA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TERMINOLOGY = {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'EDUCACION': {'user': 'Estudiante', 'chief': 'Profesor', 'unit': 'Curso'},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  'EMPRESA':   {'user': 'Colaborador', 'chief': 'Supervisor', 'unit': 'Área'}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# Objeto expuesto a los Dashboards SPA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Consolas"/>
              </a:defRPr>
            </a:pPr>
            <a:r>
              <a:t>active_labels = TERMINOLOGY[APP_MODE]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